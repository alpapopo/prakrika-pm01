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0" r:id="rId3"/>
    <p:sldId id="283" r:id="rId4"/>
    <p:sldId id="284" r:id="rId5"/>
    <p:sldId id="298" r:id="rId6"/>
    <p:sldId id="288" r:id="rId7"/>
    <p:sldId id="286" r:id="rId8"/>
    <p:sldId id="289" r:id="rId9"/>
    <p:sldId id="295" r:id="rId10"/>
    <p:sldId id="296" r:id="rId11"/>
    <p:sldId id="297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93" r:id="rId20"/>
    <p:sldId id="299" r:id="rId21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6" autoAdjust="0"/>
    <p:restoredTop sz="94070" autoAdjust="0"/>
  </p:normalViewPr>
  <p:slideViewPr>
    <p:cSldViewPr snapToGrid="0">
      <p:cViewPr varScale="1">
        <p:scale>
          <a:sx n="98" d="100"/>
          <a:sy n="98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0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A9F7FD9-58FC-4DD5-BA9D-CDB8A521D6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B25D20D-E5D6-9237-E89F-596181D3A2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0EE83-893E-4CEF-B3F5-53B89A10C38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6F3B53-CBAA-FEF7-74C9-3BEE4CDE6A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FAA927-0751-5554-A8B7-788ABC39AF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BD8EE-3749-4E5F-8DB7-445158DEB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875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9881" y="2995084"/>
            <a:ext cx="9320125" cy="1306852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Разработка программного модуля для магазина манекенов</a:t>
            </a:r>
            <a:endParaRPr lang="ru-RU" sz="18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91830" y="5395673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en-US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Александров Роман Николаевич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73C73A1-E5E0-868D-5854-EA80E535A740}"/>
              </a:ext>
            </a:extLst>
          </p:cNvPr>
          <p:cNvSpPr txBox="1">
            <a:spLocks/>
          </p:cNvSpPr>
          <p:nvPr/>
        </p:nvSpPr>
        <p:spPr>
          <a:xfrm>
            <a:off x="4567645" y="5947904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Группа 53-04к 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6400194-41AA-5715-ABBB-2CD2F0B05FAF}"/>
              </a:ext>
            </a:extLst>
          </p:cNvPr>
          <p:cNvSpPr txBox="1">
            <a:spLocks/>
          </p:cNvSpPr>
          <p:nvPr/>
        </p:nvSpPr>
        <p:spPr>
          <a:xfrm>
            <a:off x="0" y="360758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1" dirty="0">
                <a:solidFill>
                  <a:srgbClr val="0089CA"/>
                </a:solidFill>
                <a:latin typeface="Times New Roman"/>
                <a:ea typeface="Calibri"/>
                <a:cs typeface="Times New Roman"/>
              </a:rPr>
              <a:t>09.02.07 - Информационные системы и программирование, квалификация Программист</a:t>
            </a:r>
            <a:endParaRPr lang="ru-RU" sz="2000" dirty="0">
              <a:solidFill>
                <a:srgbClr val="0089CA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298448" y="1946213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298448" y="3149371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18765" y="1855976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>
                <a:latin typeface="Times New Roman"/>
                <a:ea typeface="Arial"/>
                <a:cs typeface="Arial"/>
              </a:rPr>
              <a:t>30.03.2026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 - 2</a:t>
            </a:r>
            <a:r>
              <a:rPr lang="en-US" sz="1600" dirty="0">
                <a:latin typeface="Times New Roman"/>
                <a:ea typeface="Arial"/>
                <a:cs typeface="Arial"/>
              </a:rPr>
              <a:t>5</a:t>
            </a:r>
            <a:r>
              <a:rPr lang="ru-RU" sz="1600" dirty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18765" y="3019030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baseline="0" dirty="0">
                <a:latin typeface="Times New Roman"/>
                <a:ea typeface="Arial"/>
                <a:cs typeface="Arial"/>
              </a:rPr>
              <a:t>Создание каталога овощей</a:t>
            </a:r>
          </a:p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1AF82-7C88-7B9C-0E9C-DE7AAE167616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  <a:endParaRPr lang="ru-RU" dirty="0"/>
          </a:p>
          <a:p>
            <a:r>
              <a:rPr lang="ru-RU" sz="1600" baseline="0" dirty="0">
                <a:latin typeface="Times New Roman"/>
                <a:ea typeface="Segoe UI"/>
                <a:cs typeface="Segoe UI"/>
              </a:rPr>
              <a:t>Создать программный модуль для магазина манекенов</a:t>
            </a:r>
          </a:p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1012658" y="4110789"/>
            <a:ext cx="6096000" cy="11560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600" dirty="0" err="1">
                <a:latin typeface="Times New Roman"/>
                <a:ea typeface="Segoe UI"/>
                <a:cs typeface="Segoe UI"/>
              </a:rPr>
              <a:t>Установить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 </a:t>
            </a:r>
            <a:r>
              <a:rPr lang="en-US" sz="1600" dirty="0" err="1">
                <a:latin typeface="Times New Roman"/>
                <a:ea typeface="Segoe UI"/>
                <a:cs typeface="Segoe UI"/>
              </a:rPr>
              <a:t>программное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 </a:t>
            </a:r>
            <a:r>
              <a:rPr lang="en-US" sz="1600" dirty="0" err="1">
                <a:latin typeface="Times New Roman"/>
                <a:ea typeface="Segoe UI"/>
                <a:cs typeface="Segoe UI"/>
              </a:rPr>
              <a:t>обеспечение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 Visual Studio и SQL management studio 21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ea typeface="Segoe UI"/>
                <a:cs typeface="Segoe UI"/>
              </a:rPr>
              <a:t>Реализовать приложение на 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WFP (.NET Framework)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59AA7-96D4-3831-1C26-83165CF23B0B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544285" y="4780078"/>
            <a:ext cx="6274129" cy="643247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Установка ПО</a:t>
            </a:r>
            <a:br>
              <a:rPr lang="ru-RU" sz="3200" b="1" dirty="0">
                <a:latin typeface="Times New Roman"/>
                <a:cs typeface="Times New Roman"/>
              </a:rPr>
            </a:br>
            <a:r>
              <a:rPr lang="ru-RU" sz="3200" b="1" dirty="0">
                <a:latin typeface="Times New Roman"/>
                <a:ea typeface="Calibri Light"/>
                <a:cs typeface="Times New Roman"/>
              </a:rPr>
              <a:t>Первый запуск ПО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65255" y="2356184"/>
            <a:ext cx="6096000" cy="11560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Установка и первичная настройка  среды разработки баз данных (</a:t>
            </a:r>
            <a:r>
              <a:rPr lang="en-US" sz="1600" dirty="0">
                <a:latin typeface="Times New Roman"/>
                <a:cs typeface="Segoe UI"/>
              </a:rPr>
              <a:t>SQL management studio 21</a:t>
            </a:r>
            <a:r>
              <a:rPr lang="ru-RU" sz="1600" dirty="0">
                <a:latin typeface="Times New Roman"/>
                <a:cs typeface="Segoe UI"/>
              </a:rPr>
              <a:t>).</a:t>
            </a:r>
            <a:r>
              <a:rPr lang="en-US" sz="1600" dirty="0">
                <a:latin typeface="Times New Roman"/>
                <a:cs typeface="Segoe UI"/>
              </a:rPr>
              <a:t>	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Установка и первичная настройка</a:t>
            </a:r>
            <a:r>
              <a:rPr lang="en-US" sz="1600" dirty="0">
                <a:latin typeface="Times New Roman"/>
                <a:cs typeface="Segoe UI"/>
              </a:rPr>
              <a:t> (Visual studio 2022)</a:t>
            </a: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712518" y="4780078"/>
            <a:ext cx="6105896" cy="643247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22473" y="4689016"/>
            <a:ext cx="6443344" cy="68103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 err="1">
              <a:solidFill>
                <a:schemeClr val="accent1">
                  <a:lumMod val="76000"/>
                </a:schemeClr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en-US" sz="1600" dirty="0" err="1">
                <a:latin typeface="Times New Roman"/>
                <a:ea typeface="Segoe UI"/>
                <a:cs typeface="Segoe UI"/>
              </a:rPr>
              <a:t>Успешно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 </a:t>
            </a:r>
            <a:r>
              <a:rPr lang="en-US" sz="1600" dirty="0" err="1">
                <a:latin typeface="Times New Roman"/>
                <a:ea typeface="Segoe UI"/>
                <a:cs typeface="Segoe UI"/>
              </a:rPr>
              <a:t>установлены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 </a:t>
            </a:r>
            <a:r>
              <a:rPr lang="en-US" sz="1600" dirty="0">
                <a:latin typeface="Times New Roman"/>
                <a:cs typeface="Segoe UI"/>
              </a:rPr>
              <a:t>SQL management studio 21 </a:t>
            </a:r>
            <a:r>
              <a:rPr lang="ru-RU" sz="1600" dirty="0">
                <a:latin typeface="Times New Roman"/>
                <a:cs typeface="Segoe UI"/>
              </a:rPr>
              <a:t>и </a:t>
            </a:r>
            <a:r>
              <a:rPr lang="en-US" sz="1600" dirty="0">
                <a:latin typeface="Times New Roman"/>
                <a:cs typeface="Segoe UI"/>
              </a:rPr>
              <a:t>Visual studio 2022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EAB98-E15C-0459-B4B7-4C7F3631145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4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5ACE5E-9131-0AEA-2AE3-31008A9E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050" y="2512500"/>
            <a:ext cx="4821197" cy="263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Проектирование структуры базы данных</a:t>
            </a:r>
            <a:endParaRPr lang="ru-RU" sz="3200" b="1" dirty="0">
              <a:latin typeface="Times New Roman"/>
              <a:ea typeface="Calibri Light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65255" y="2356184"/>
            <a:ext cx="6096000" cy="1899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Определил основные сущности для базы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b="0" i="0" dirty="0">
                <a:effectLst/>
                <a:latin typeface="fkGroteskNeue"/>
              </a:rPr>
              <a:t>Разработал логическую схему с использованием </a:t>
            </a:r>
            <a:r>
              <a:rPr lang="en-US" sz="1600" dirty="0">
                <a:latin typeface="fkGroteskNeue"/>
              </a:rPr>
              <a:t>SQL management studio 21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Определил ключевые поля, типы данных, связи;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Подготовил схему таблиц для реализации.</a:t>
            </a:r>
            <a:endParaRPr lang="ru-RU" sz="1600" dirty="0">
              <a:latin typeface="Times New Roman"/>
              <a:ea typeface="Segoe UI"/>
              <a:cs typeface="Segoe UI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 err="1">
              <a:solidFill>
                <a:schemeClr val="accent1">
                  <a:lumMod val="76000"/>
                </a:schemeClr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полная структура базы данных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36A92F6F-732D-4223-BF8A-66ED631F7C4B}"/>
              </a:ext>
            </a:extLst>
          </p:cNvPr>
          <p:cNvSpPr/>
          <p:nvPr/>
        </p:nvSpPr>
        <p:spPr>
          <a:xfrm>
            <a:off x="7214610" y="2122897"/>
            <a:ext cx="4801252" cy="3975002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90109A-8D09-C89D-F92D-1D2138FE367B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5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F979C5-9407-65FE-1499-BB89C74D6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130" y="2356184"/>
            <a:ext cx="4538212" cy="35556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311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96" y="924033"/>
            <a:ext cx="5913793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 Создание структуры в </a:t>
            </a:r>
            <a:r>
              <a:rPr lang="en-US" sz="3200" b="1" dirty="0">
                <a:latin typeface="Times New Roman"/>
                <a:cs typeface="Times New Roman"/>
              </a:rPr>
              <a:t>SQL management studio 21</a:t>
            </a:r>
            <a:br>
              <a:rPr lang="en-US" sz="3200" b="1" dirty="0">
                <a:latin typeface="Times New Roman"/>
                <a:cs typeface="Times New Roman"/>
              </a:rPr>
            </a:b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541605" y="2303250"/>
            <a:ext cx="6096000" cy="3002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cs typeface="Segoe UI"/>
              </a:rPr>
              <a:t>Создание справочников: роли пользователей, города, специализации (категории профилей), статусы заявок.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cs typeface="Segoe UI"/>
              </a:rPr>
              <a:t>Создание основных таблиц: </a:t>
            </a:r>
            <a:r>
              <a:rPr lang="en-US" sz="1600" dirty="0">
                <a:solidFill>
                  <a:srgbClr val="000000"/>
                </a:solidFill>
                <a:latin typeface="Times New Roman"/>
                <a:cs typeface="Segoe UI"/>
              </a:rPr>
              <a:t>Users, Roles, Cities, Catalogs, Categories, Baskets,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cs typeface="Segoe UI"/>
              </a:rPr>
              <a:t>BasketsCatalogs</a:t>
            </a:r>
            <a:r>
              <a:rPr lang="en-US" sz="1600" dirty="0">
                <a:solidFill>
                  <a:srgbClr val="000000"/>
                </a:solidFill>
                <a:latin typeface="Times New Roman"/>
                <a:cs typeface="Segoe UI"/>
              </a:rPr>
              <a:t>, Orders,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cs typeface="Segoe UI"/>
              </a:rPr>
              <a:t>OrdersCatalogs</a:t>
            </a:r>
            <a:r>
              <a:rPr lang="en-US" sz="1600" dirty="0">
                <a:solidFill>
                  <a:srgbClr val="000000"/>
                </a:solidFill>
                <a:latin typeface="Times New Roman"/>
                <a:cs typeface="Segoe UI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cs typeface="Segoe UI"/>
              </a:rPr>
              <a:t>StatusOrders</a:t>
            </a:r>
            <a:endParaRPr lang="ru-RU" sz="1600" dirty="0">
              <a:solidFill>
                <a:srgbClr val="000000"/>
              </a:solidFill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cs typeface="Segoe UI"/>
              </a:rPr>
              <a:t>Установка связей между таблицами (внешние ключи)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cs typeface="Segoe UI"/>
              </a:rPr>
              <a:t>Проверка схемы на соответствие требованиям предметной области учета овощной продукции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568333" y="30124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706877" y="2966489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706877" y="3147852"/>
            <a:ext cx="5076702" cy="919401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/>
              <a:t>Структура базы данных полностью создана </a:t>
            </a:r>
          </a:p>
          <a:p>
            <a:pPr algn="ctr"/>
            <a:r>
              <a:rPr lang="ru-RU" sz="1400" b="1" dirty="0">
                <a:latin typeface="Times New Roman"/>
                <a:cs typeface="Times New Roman"/>
              </a:rPr>
              <a:t>Скриншот на сл. 7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28609-F80E-B295-E11A-595938FDA905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592779" y="5818908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344958" y="5562339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397821-BA28-AB6D-797B-7FF40D12FBF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4765E4-1B00-1B35-2D1A-99599BD3E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9" y="1590435"/>
            <a:ext cx="5181069" cy="39719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67283AA-3F43-07C5-0C0D-6BB5C10F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54" y="1690637"/>
            <a:ext cx="5152907" cy="389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4: создание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ru-RU" sz="3200" b="1" dirty="0">
                <a:latin typeface="Times New Roman"/>
                <a:cs typeface="Times New Roman"/>
              </a:rPr>
              <a:t>класса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dirty="0" err="1">
                <a:latin typeface="Times New Roman"/>
                <a:cs typeface="Times New Roman"/>
              </a:rPr>
              <a:t>CurrentUser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732310" y="2199432"/>
            <a:ext cx="6096000" cy="3002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Создан статический класс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CurrentUser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для хранения данных о текущем авторизованном пользователе в приложении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Добавлено свойство User, в которое записывается объект пользователя после успешного входа.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Реализовано свойство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IsAdmin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для проверки прав администратора и разграничения доступа к функциям.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Настроен сброс текущего пользователя при выходе из аккаунта для корректного завершения сессии.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734297" y="3532082"/>
            <a:ext cx="5076702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в приложении реализовано единое хранение текущей сессии пользователя, что обеспечивает корректную авторизацию, проверку ролей и управление доступом к разделам.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6B22E-5E0E-0937-770B-C3447992381B}"/>
              </a:ext>
            </a:extLst>
          </p:cNvPr>
          <p:cNvSpPr txBox="1"/>
          <p:nvPr/>
        </p:nvSpPr>
        <p:spPr>
          <a:xfrm>
            <a:off x="9578166" y="6488668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5: Работа с </a:t>
            </a:r>
            <a:r>
              <a:rPr lang="en-US" sz="3200" b="1" dirty="0">
                <a:latin typeface="Times New Roman"/>
                <a:cs typeface="Times New Roman"/>
              </a:rPr>
              <a:t>WWWROOT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14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721248" y="2141198"/>
            <a:ext cx="6777815" cy="2264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Pages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/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Authoriz.xaml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авторизации: заголовок, поля ввода логина и пароля, кнопки «Войти» и «Зарегистрироваться».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Настроено единое визуальное оформление формы: цветовая схема, шрифт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Cambria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Math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, выравнивание элементов и закруглённые кнопки. 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Добавены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обработчики событий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LoginButton_Click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и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OpenRegButton_Click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для входа пользователя и перехода к регистрации.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732310" y="51836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933489" y="5183604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933489" y="5183603"/>
            <a:ext cx="5076702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создан удобный и единообразный экран входа, который обеспечивает корректную авторизацию пользователя и переход к форме регистрации.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F6E5A-FE00-72B4-210A-3F7AF674694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A53322-6FD7-DAF5-89DA-5D37E54C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42" y="2444285"/>
            <a:ext cx="3910522" cy="32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2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6: 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RegPage.xaml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739447" y="2021312"/>
            <a:ext cx="6484084" cy="3741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RegPage.xaml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форма регистрации нового пользователя с полями: логин, пароль,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e-mail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, город и роль.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Настроено единое оформление страницы: цветовая схема приложения, шрифт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Cambria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Math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, выравнивание элементов и закруглённые кнопки действий.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Подключены обработчики кнопок регистрации и возврата на страницу авторизации для удобной навигации между экранами.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Поля формы привязаны к логике проверки данных, что позволяет контролировать корректность ввода перед сохранением пользователя в БД.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967239" y="5006844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7095125" y="5006842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7105021" y="4911755"/>
            <a:ext cx="5076702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реализован полноценный экран регистрации, обеспечивающий добавление нового пользователя в систему и удобный переход к авторизации.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4413BA-98EB-0C1A-D7B0-F8D38F88FC9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EB446F-F7EA-37DD-5BF2-BB5A5D9AE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551" y="2093839"/>
            <a:ext cx="1989862" cy="281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46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9349759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en-US" sz="3200" b="1" dirty="0">
                <a:latin typeface="Times New Roman"/>
                <a:cs typeface="Times New Roman"/>
              </a:rPr>
              <a:t>7</a:t>
            </a:r>
            <a:r>
              <a:rPr lang="ru-RU" sz="3200" b="1" dirty="0">
                <a:latin typeface="Times New Roman"/>
                <a:cs typeface="Times New Roman"/>
              </a:rPr>
              <a:t>: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ru-RU" sz="3200" b="1" dirty="0">
                <a:latin typeface="Times New Roman"/>
                <a:cs typeface="Times New Roman"/>
              </a:rPr>
              <a:t>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PeopleCatalogPage.xaml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04167" y="2258391"/>
            <a:ext cx="6096000" cy="3372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Pages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/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PeopleCatalogPage.xaml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 экран каталога профилей с выводом данных из таблицы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Catalogs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Добавлены элементы поиска, фильтрации по специализации и сортировки по цене для быстрого подбора нужных позиций.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Реализованы кнопки добавления профиля в подборку и перехода в корзину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BasketPage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для оформления заявки.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Настроено единое визуальное оформление страницы: шрифт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Cambria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Math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, стили кнопок и корректное отображение карточек профилей с изображениями.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904223" y="5142930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7105402" y="5142929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7052663" y="5063074"/>
            <a:ext cx="5076702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страница каталога обеспечивает удобный просмотр, поиск и отбор профилей, а также передачу выбранных позиций в подборку для дальнейшего оформления заявки.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90A810-0713-C0EE-035A-7A3FF01C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58" y="3044789"/>
            <a:ext cx="5225142" cy="206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9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8: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ru-RU" sz="3200" b="1" dirty="0">
                <a:latin typeface="Times New Roman"/>
                <a:cs typeface="Times New Roman"/>
              </a:rPr>
              <a:t>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AdminPage.xaml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13398" y="2181532"/>
            <a:ext cx="6096000" cy="3002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Pages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/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AdminPage.xaml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главная административная панель с навигацией по разделам управления данными.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Добавлены кнопки перехода к страницам администрирования: профили, специализации, заявки, пользователи и города.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Настроен Frame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AdminContentFrame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для динамической загрузки дочерних страниц без открытия новых окон.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кнопка «Назад к каталогу» для быстрого возврата к пользовательской части приложения.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34077" y="5197554"/>
            <a:ext cx="5076702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создан единый центр администрирования, обеспечивающий удобный доступ ко всем разделам управления базой данных из одного интерфейса..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</a:t>
            </a:r>
            <a:r>
              <a:rPr lang="en-US" dirty="0">
                <a:latin typeface="Times New Roman"/>
                <a:ea typeface="Calibri"/>
                <a:cs typeface="Calibri"/>
              </a:rPr>
              <a:t>2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ABA089-7C3F-CE47-BC92-E7411F221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27" y="3307296"/>
            <a:ext cx="4854976" cy="189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0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438603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9: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ru-RU" sz="3200" b="1" dirty="0">
                <a:latin typeface="Times New Roman"/>
                <a:cs typeface="Times New Roman"/>
              </a:rPr>
              <a:t>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PeopleAdminPage.xaml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13398" y="2181532"/>
            <a:ext cx="6096000" cy="3741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PeopleAdminPage.xaml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управления профилями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Catalogs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с таблицей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ProductsGrid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и формой редактирования.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Добавлены операции CRUD: создание, изменение и удаление профилей через кнопки «Добавить», «Сохранить», «Удалить». 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Реализована валидация полей (название, специализация, цена, описание), что снижает риск сохранения некорректных данных.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Подключена загрузка изображения профиля через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OpenFileDialog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с сохранением пути 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PhotoPath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и выводом в интерфейсе.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34077" y="5197554"/>
            <a:ext cx="5076702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страница обеспечивает полный контроль над каталогом профилей и позволяет администратору быстро поддерживать актуальность данных в БД.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511171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</a:t>
            </a:r>
            <a:r>
              <a:rPr lang="en-US" dirty="0">
                <a:latin typeface="Times New Roman"/>
                <a:ea typeface="Calibri"/>
                <a:cs typeface="Calibri"/>
              </a:rPr>
              <a:t>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DB1A2F-CE3C-6C9C-FAD6-D3520DE1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835" y="3103200"/>
            <a:ext cx="5342560" cy="209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0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9119539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10: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CategoriesAdminPage.xaml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62036" y="2054613"/>
            <a:ext cx="6096000" cy="3002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CategoriesAdminPage.xaml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управления специализациями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Categories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с отображением списка в таблице.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Добавлены основные операции CRUD: добавление новой специализации, редактирование выбранной и удаление записи.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Настроена синхронизация формы с выбранной строкой таблицы для удобного изменения данных без повторного ввода.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Реализована проверка корректности ввода названия специализации перед сохранением в базу данных.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18930" y="5155384"/>
            <a:ext cx="5076702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 создан удобный инструмент администрирования справочника специализаций, который обеспечивает актуальность данных для каталога профилей и фильтрации.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</a:t>
            </a:r>
            <a:r>
              <a:rPr lang="en-US" dirty="0">
                <a:latin typeface="Times New Roman"/>
                <a:ea typeface="Calibri"/>
                <a:cs typeface="Calibri"/>
              </a:rPr>
              <a:t>4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7F7C4B-C36B-E4C4-A910-7221A8113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368" y="2878106"/>
            <a:ext cx="5799632" cy="232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3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578775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 Этап 11: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OrdersAdminPage.xaml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62036" y="2054613"/>
            <a:ext cx="6096000" cy="3372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OrdersAdminPage.xaml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управления заявками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Orders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с выводом данных в таблицу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OrdersGrid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Добавлены поля редактирования: ID клиента, дата заявки, сумма и статус, а также подписи для удобства ввода.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Реализованы операции CRUD: создание новой заявки, изменение выбранной и удаление записи из БД.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Настроена связь со справочником статусов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StatusOrders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через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ComboBox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, что обеспечивает корректное изменение состояния заявки.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96712" y="5153288"/>
            <a:ext cx="5076702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 страница позволяет администратору полностью контролировать жизненный цикл заявок: от создания до изменения статуса и удаления.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</a:t>
            </a:r>
            <a:r>
              <a:rPr lang="en-US" dirty="0">
                <a:latin typeface="Times New Roman"/>
                <a:ea typeface="Calibri"/>
                <a:cs typeface="Calibri"/>
              </a:rPr>
              <a:t>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6F4D53-0967-E656-5EF1-9092D1A9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699" y="2782436"/>
            <a:ext cx="5799147" cy="229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24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12: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UsersAdminPage.xaml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62036" y="2054613"/>
            <a:ext cx="6096000" cy="3372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UsersAdminPage.xaml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управления пользователями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Users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с отображением записей 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UsersGrid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Добавлены поля редактирования: логин,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e-mail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, пароль, роль и город, а также подписи над полями для понятного ввода.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Реализованы операции редактирования и удаления пользователей с выбором записи из таблицы. 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Настроены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ComboBox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для выбора роли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Roles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и города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Cities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), что обеспечивает корректное сохранение связанных данных в БД.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96712" y="5153288"/>
            <a:ext cx="5076702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 создана удобная административная форма для сопровождения учетных записей и управления правами пользователей в системе..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2592D1-DA4C-4B5E-C37A-9BCAF8A6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853" y="2925039"/>
            <a:ext cx="5928710" cy="23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35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13: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CitiesAdminPage.xaml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62036" y="2054613"/>
            <a:ext cx="6096000" cy="3002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CitiesAdminPage.xaml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управления справочником городов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Cities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с выводом записей в таблицу.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Добавлены операции CRUD: добавление нового города, редактирование выбранного и удаление записи из базы данных. 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Настроена работа формы с выбранной строкой таблицы, что упрощает изменение существующих данных.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Реализована базовая проверка корректности ввода названия города перед сохранением.  Результат: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96712" y="5153288"/>
            <a:ext cx="5076702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 создан инструмент администрирования справочника городов, который поддерживает актуальность данных для регистрации пользователей и работы связанных сущностей.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C9FA8B-A89C-95DD-CEC3-294E6C0D2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2" y="3095630"/>
            <a:ext cx="5371884" cy="21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92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14: Разработка </a:t>
            </a:r>
            <a:r>
              <a:rPr lang="en-US" sz="3200" b="1" dirty="0" err="1">
                <a:latin typeface="Times New Roman"/>
                <a:cs typeface="Times New Roman"/>
              </a:rPr>
              <a:t>BasketPage.xaml</a:t>
            </a:r>
            <a:endParaRPr lang="ru-RU" sz="3200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362036" y="2054613"/>
            <a:ext cx="6096000" cy="41107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В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BasketPage.xaml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реализована страница подборки с выводом выбранных профилей в таблицу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BasketGrid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.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Добавлено отображение ключевых данных по позициям: профиль, цена, количество и сумма по каждой позиции.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Реализованы действия пользователя: удаление позиции, очистка всей подборки и переход к оформлению заявки.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 Настроен расчёт и вывод итоговой суммы подборки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TotalTextBlock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Segoe UI"/>
              </a:rPr>
              <a:t>) с обновлением после каждого действия.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err="1">
                <a:solidFill>
                  <a:srgbClr val="000000"/>
                </a:solidFill>
                <a:latin typeface="Times New Roman"/>
                <a:cs typeface="Times New Roman"/>
              </a:rPr>
              <a:t>Реализирована</a:t>
            </a:r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 генерация чека (PDF) при оформлении заявки: в документ выводятся номер и дата заявки, состав позиций, количество, цена, итоговая сумма и QR-код с данными заказа.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6685637" y="5244341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6886816" y="5244340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6896712" y="5153288"/>
            <a:ext cx="5076702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ru-RU" sz="1600" dirty="0">
                <a:solidFill>
                  <a:srgbClr val="000000"/>
                </a:solidFill>
                <a:latin typeface="Times New Roman"/>
                <a:cs typeface="Times New Roman"/>
              </a:rPr>
              <a:t> создан инструмент администрирования справочника городов, который поддерживает актуальность данных для регистрации пользователей и работы связанных сущностей.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953AA-95AA-1B95-CB29-6CBA53ACC1A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</a:t>
            </a:r>
            <a:r>
              <a:rPr lang="en-US" dirty="0">
                <a:latin typeface="Times New Roman"/>
                <a:ea typeface="Calibri"/>
                <a:cs typeface="Calibri"/>
              </a:rPr>
              <a:t>8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676212-C4D2-A6C9-1DA9-E79CAEFC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712" y="3400548"/>
            <a:ext cx="4746698" cy="184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71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723918-933F-D198-1C56-8C7490CB2043}"/>
              </a:ext>
            </a:extLst>
          </p:cNvPr>
          <p:cNvSpPr txBox="1"/>
          <p:nvPr/>
        </p:nvSpPr>
        <p:spPr>
          <a:xfrm>
            <a:off x="723454" y="1715071"/>
            <a:ext cx="842210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Разработано WPF-приложение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people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для работы с каталогом профилей и заявками. 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Спроектирована и реализована база данных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PeopleProjectDatabase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(MS SQL Server) из 10 связанных таблиц.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Настроена работа с данными через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Entity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Framework (EDMX-модель Model1). 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Реализованы регистрация, авторизация и разграничение прав доступа по ролям (администратор/пользователь). 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Реализован основной функционал CRUD для справочников и сущностей: профили, специализации, пользователи, города, заявки.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Добавлены поиск, фильтрация и сортировка в каталоге профилей. 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Реализована работа с подборкой: добавление позиций, учет количества, расчет итоговой суммы.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Реализовано оформление заявки из подборки с сохранением состава заявки в БД. 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Добавлена генерация PDF-отчета по заявке и QR-кода с данными заказа.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Создан единый интерфейс с административной панелью и навигацией между страницами (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AdminPage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PeopleCatalogPage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ru-RU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BasketPage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и др.).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970DD-C3F6-BD56-701B-9C8D744AC055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3039309"/>
            <a:ext cx="9144000" cy="132454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Разработка программного модуля для магазина манекенов</a:t>
            </a:r>
            <a:endParaRPr lang="ru-RU" sz="20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91830" y="5395673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en-US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Александров Роман Николаевич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0F60015-8A24-198B-7ABE-44C214373E87}"/>
              </a:ext>
            </a:extLst>
          </p:cNvPr>
          <p:cNvSpPr txBox="1">
            <a:spLocks/>
          </p:cNvSpPr>
          <p:nvPr/>
        </p:nvSpPr>
        <p:spPr>
          <a:xfrm>
            <a:off x="0" y="360758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1" dirty="0">
                <a:solidFill>
                  <a:srgbClr val="0089CA"/>
                </a:solidFill>
                <a:latin typeface="Times New Roman"/>
                <a:ea typeface="Calibri"/>
                <a:cs typeface="Times New Roman"/>
              </a:rPr>
              <a:t>09.02.07 - Информационные системы и программирование, квалификация Программист</a:t>
            </a:r>
            <a:endParaRPr lang="ru-RU" sz="2000" dirty="0">
              <a:solidFill>
                <a:srgbClr val="0089CA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671BB67-718E-5AFD-691B-7115F1E6AF6A}"/>
              </a:ext>
            </a:extLst>
          </p:cNvPr>
          <p:cNvSpPr txBox="1">
            <a:spLocks/>
          </p:cNvSpPr>
          <p:nvPr/>
        </p:nvSpPr>
        <p:spPr>
          <a:xfrm>
            <a:off x="4567645" y="5947904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Группа 53-04к 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776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7871</TotalTime>
  <Words>1535</Words>
  <Application>Microsoft Office PowerPoint</Application>
  <PresentationFormat>Широкоэкранный</PresentationFormat>
  <Paragraphs>149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fkGroteskNeue</vt:lpstr>
      <vt:lpstr>Segoe UI</vt:lpstr>
      <vt:lpstr>Times New Roman</vt:lpstr>
      <vt:lpstr>Wingdings</vt:lpstr>
      <vt:lpstr>Тема1</vt:lpstr>
      <vt:lpstr>Разработка программного модуля для магазина манекенов</vt:lpstr>
      <vt:lpstr>Информация о практике</vt:lpstr>
      <vt:lpstr>Цели и задачи практики</vt:lpstr>
      <vt:lpstr>Этап 1: Установка ПО Первый запуск ПО</vt:lpstr>
      <vt:lpstr>Этап 2: Проектирование структуры базы данных</vt:lpstr>
      <vt:lpstr>Этап 3 Создание структуры в SQL management studio 21 </vt:lpstr>
      <vt:lpstr>Результаты этапа 3 : </vt:lpstr>
      <vt:lpstr>Этап 4: создание класса CurrentUser</vt:lpstr>
      <vt:lpstr>Этап 5: Работа с WWWROOT</vt:lpstr>
      <vt:lpstr>Этап 6:  Разработка RegPage.xaml</vt:lpstr>
      <vt:lpstr>Этап 7: Разработка PeopleCatalogPage.xaml</vt:lpstr>
      <vt:lpstr>Этап 8: Разработка AdminPage.xaml</vt:lpstr>
      <vt:lpstr>Этап 9:  Разработка PeopleAdminPage.xaml</vt:lpstr>
      <vt:lpstr>Этап 10: Разработка CategoriesAdminPage.xaml</vt:lpstr>
      <vt:lpstr> Этап 11: Разработка OrdersAdminPage.xaml</vt:lpstr>
      <vt:lpstr>Этап 12: Разработка UsersAdminPage.xaml</vt:lpstr>
      <vt:lpstr>Этап 13: Разработка CitiesAdminPage.xaml</vt:lpstr>
      <vt:lpstr>Этап 14: Разработка BasketPage.xaml</vt:lpstr>
      <vt:lpstr>Достигнутые результаты</vt:lpstr>
      <vt:lpstr>Разработка программного модуля для магазина манекенов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Калинин Денис Алексеевич</cp:lastModifiedBy>
  <cp:revision>782</cp:revision>
  <cp:lastPrinted>2025-12-16T19:12:28Z</cp:lastPrinted>
  <dcterms:created xsi:type="dcterms:W3CDTF">2023-01-30T07:02:12Z</dcterms:created>
  <dcterms:modified xsi:type="dcterms:W3CDTF">2026-04-23T19:18:51Z</dcterms:modified>
</cp:coreProperties>
</file>